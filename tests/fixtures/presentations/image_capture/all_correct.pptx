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trictFirstAndLastChars="0" saveSubsetFonts="1" autoCompressPictures="0">
  <p:sldMasterIdLst>
    <p:sldMasterId id="2147483659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9144000" cy="6858000" type="screen4x3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A463D2F-6552-4F58-AAD4-21112E0C4F76}">
  <a:tblStyle styleId="{5A463D2F-6552-4F58-AAD4-21112E0C4F76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13" d="100"/>
          <a:sy n="113" d="100"/>
        </p:scale>
        <p:origin x="1554" y="102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309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309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g5a32bfd86c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0" name="Google Shape;60;g5a32bfd86c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g5a32bfd86c_0_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309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7" name="Google Shape;67;g5a32bfd86c_0_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g5a32bfd86c_0_37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5" name="Google Shape;75;g5a32bfd86c_0_3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g5a32bfd86c_0_4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309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3" name="Google Shape;83;g5a32bfd86c_0_4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g77670eeeea_0_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309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1" name="Google Shape;91;g77670eeeea_0_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g5a32bfd86c_0_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309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2" name="Google Shape;102;g5a32bfd86c_0_1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g5a32bfd86c_0_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309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9" name="Google Shape;109;g5a32bfd86c_0_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g77670eeeea_0_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309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8" name="Google Shape;118;g77670eeeea_0_1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g5a32bfd86c_0_2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309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4" name="Google Shape;124;g5a32bfd86c_0_2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311708" y="992767"/>
            <a:ext cx="8520600" cy="27369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311700" y="3778833"/>
            <a:ext cx="8520600" cy="1056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ldNum" idx="12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>
            <a:spLocks noGrp="1"/>
          </p:cNvSpPr>
          <p:nvPr>
            <p:ph type="title"/>
          </p:nvPr>
        </p:nvSpPr>
        <p:spPr>
          <a:xfrm>
            <a:off x="311700" y="2867800"/>
            <a:ext cx="8520600" cy="1122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sldNum" idx="12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311700" y="593367"/>
            <a:ext cx="8520600" cy="763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body" idx="1"/>
          </p:nvPr>
        </p:nvSpPr>
        <p:spPr>
          <a:xfrm>
            <a:off x="311700" y="1536633"/>
            <a:ext cx="8520600" cy="455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sldNum" idx="12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>
            <a:spLocks noGrp="1"/>
          </p:cNvSpPr>
          <p:nvPr>
            <p:ph type="title"/>
          </p:nvPr>
        </p:nvSpPr>
        <p:spPr>
          <a:xfrm>
            <a:off x="311700" y="593367"/>
            <a:ext cx="8520600" cy="763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5"/>
          <p:cNvSpPr txBox="1">
            <a:spLocks noGrp="1"/>
          </p:cNvSpPr>
          <p:nvPr>
            <p:ph type="body" idx="1"/>
          </p:nvPr>
        </p:nvSpPr>
        <p:spPr>
          <a:xfrm>
            <a:off x="311700" y="1536633"/>
            <a:ext cx="3999900" cy="455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body" idx="2"/>
          </p:nvPr>
        </p:nvSpPr>
        <p:spPr>
          <a:xfrm>
            <a:off x="4832400" y="1536633"/>
            <a:ext cx="3999900" cy="455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sldNum" idx="12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>
            <a:spLocks noGrp="1"/>
          </p:cNvSpPr>
          <p:nvPr>
            <p:ph type="title"/>
          </p:nvPr>
        </p:nvSpPr>
        <p:spPr>
          <a:xfrm>
            <a:off x="311700" y="593367"/>
            <a:ext cx="8520600" cy="763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6"/>
          <p:cNvSpPr txBox="1">
            <a:spLocks noGrp="1"/>
          </p:cNvSpPr>
          <p:nvPr>
            <p:ph type="sldNum" idx="12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>
            <a:spLocks noGrp="1"/>
          </p:cNvSpPr>
          <p:nvPr>
            <p:ph type="title"/>
          </p:nvPr>
        </p:nvSpPr>
        <p:spPr>
          <a:xfrm>
            <a:off x="311700" y="740800"/>
            <a:ext cx="2808000" cy="1007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0" name="Google Shape;30;p7"/>
          <p:cNvSpPr txBox="1">
            <a:spLocks noGrp="1"/>
          </p:cNvSpPr>
          <p:nvPr>
            <p:ph type="body" idx="1"/>
          </p:nvPr>
        </p:nvSpPr>
        <p:spPr>
          <a:xfrm>
            <a:off x="311700" y="1852800"/>
            <a:ext cx="2808000" cy="4239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1" name="Google Shape;31;p7"/>
          <p:cNvSpPr txBox="1">
            <a:spLocks noGrp="1"/>
          </p:cNvSpPr>
          <p:nvPr>
            <p:ph type="sldNum" idx="12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>
            <a:spLocks noGrp="1"/>
          </p:cNvSpPr>
          <p:nvPr>
            <p:ph type="title"/>
          </p:nvPr>
        </p:nvSpPr>
        <p:spPr>
          <a:xfrm>
            <a:off x="490250" y="600200"/>
            <a:ext cx="6367800" cy="5454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4" name="Google Shape;34;p8"/>
          <p:cNvSpPr txBox="1">
            <a:spLocks noGrp="1"/>
          </p:cNvSpPr>
          <p:nvPr>
            <p:ph type="sldNum" idx="12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67"/>
            <a:ext cx="4572000" cy="68580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" name="Google Shape;37;p9"/>
          <p:cNvSpPr txBox="1">
            <a:spLocks noGrp="1"/>
          </p:cNvSpPr>
          <p:nvPr>
            <p:ph type="title"/>
          </p:nvPr>
        </p:nvSpPr>
        <p:spPr>
          <a:xfrm>
            <a:off x="265500" y="1644233"/>
            <a:ext cx="4045200" cy="1976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8" name="Google Shape;38;p9"/>
          <p:cNvSpPr txBox="1">
            <a:spLocks noGrp="1"/>
          </p:cNvSpPr>
          <p:nvPr>
            <p:ph type="subTitle" idx="1"/>
          </p:nvPr>
        </p:nvSpPr>
        <p:spPr>
          <a:xfrm>
            <a:off x="265500" y="3737433"/>
            <a:ext cx="4045200" cy="1646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body" idx="2"/>
          </p:nvPr>
        </p:nvSpPr>
        <p:spPr>
          <a:xfrm>
            <a:off x="4939500" y="965433"/>
            <a:ext cx="3837000" cy="4926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sldNum" idx="12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>
            <a:spLocks noGrp="1"/>
          </p:cNvSpPr>
          <p:nvPr>
            <p:ph type="body" idx="1"/>
          </p:nvPr>
        </p:nvSpPr>
        <p:spPr>
          <a:xfrm>
            <a:off x="311700" y="5640767"/>
            <a:ext cx="5998800" cy="806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3" name="Google Shape;43;p10"/>
          <p:cNvSpPr txBox="1">
            <a:spLocks noGrp="1"/>
          </p:cNvSpPr>
          <p:nvPr>
            <p:ph type="sldNum" idx="12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474833"/>
            <a:ext cx="8520600" cy="2618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>
            <a:spLocks noGrp="1"/>
          </p:cNvSpPr>
          <p:nvPr>
            <p:ph type="body" idx="1"/>
          </p:nvPr>
        </p:nvSpPr>
        <p:spPr>
          <a:xfrm>
            <a:off x="311700" y="4202967"/>
            <a:ext cx="8520600" cy="1734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11"/>
          <p:cNvSpPr txBox="1">
            <a:spLocks noGrp="1"/>
          </p:cNvSpPr>
          <p:nvPr>
            <p:ph type="sldNum" idx="12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>
            <a:spLocks noGrp="1"/>
          </p:cNvSpPr>
          <p:nvPr>
            <p:ph type="sldNum" idx="12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593367"/>
            <a:ext cx="8520600" cy="76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536633"/>
            <a:ext cx="8520600" cy="455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marL="914400" lvl="1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marL="1371600" lvl="2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marL="1828800" lvl="3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marL="2286000" lvl="4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marL="2743200" lvl="5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marL="3200400" lvl="6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marL="3657600" lvl="7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marL="4114800" lvl="8" indent="-31750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4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org/%E2%80%A6" TargetMode="Externa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5.png"/><Relationship Id="rId5" Type="http://schemas.openxmlformats.org/officeDocument/2006/relationships/hyperlink" Target="https://my_web_app.com/" TargetMode="External"/><Relationship Id="rId4" Type="http://schemas.openxmlformats.org/officeDocument/2006/relationships/hyperlink" Target="https://play.google.com/store/apps/details?id=my.app" TargetMode="Externa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>
            <a:spLocks noGrp="1"/>
          </p:cNvSpPr>
          <p:nvPr>
            <p:ph type="ctrTitle"/>
          </p:nvPr>
        </p:nvSpPr>
        <p:spPr>
          <a:xfrm>
            <a:off x="311708" y="992767"/>
            <a:ext cx="8520600" cy="27369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Тема дипломной работы</a:t>
            </a:r>
            <a:endParaRPr/>
          </a:p>
        </p:txBody>
      </p:sp>
      <p:sp>
        <p:nvSpPr>
          <p:cNvPr id="55" name="Google Shape;55;p13"/>
          <p:cNvSpPr txBox="1">
            <a:spLocks noGrp="1"/>
          </p:cNvSpPr>
          <p:nvPr>
            <p:ph type="subTitle" idx="1"/>
          </p:nvPr>
        </p:nvSpPr>
        <p:spPr>
          <a:xfrm>
            <a:off x="174750" y="4871300"/>
            <a:ext cx="8794500" cy="1127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000000"/>
                </a:solidFill>
              </a:rPr>
              <a:t>Выполнил: 									Иванов Иван Иванович, гр. 5381</a:t>
            </a:r>
            <a:endParaRPr sz="1800">
              <a:solidFill>
                <a:srgbClr val="000000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000000"/>
                </a:solidFill>
              </a:rPr>
              <a:t>Руководитель:							Петров Петр Петрович, к.т.н., доцент</a:t>
            </a:r>
            <a:endParaRPr sz="1800">
              <a:solidFill>
                <a:srgbClr val="000000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000000"/>
                </a:solidFill>
              </a:rPr>
              <a:t>Консультант:                         	Сергеев Сергей Сергеевич, д.т.н., с.н.с, НИИ “....”</a:t>
            </a:r>
            <a:endParaRPr sz="1800">
              <a:solidFill>
                <a:srgbClr val="000000"/>
              </a:solidFill>
            </a:endParaRPr>
          </a:p>
        </p:txBody>
      </p:sp>
      <p:sp>
        <p:nvSpPr>
          <p:cNvPr id="56" name="Google Shape;56;p13"/>
          <p:cNvSpPr txBox="1"/>
          <p:nvPr/>
        </p:nvSpPr>
        <p:spPr>
          <a:xfrm>
            <a:off x="0" y="0"/>
            <a:ext cx="9144000" cy="77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Санкт-Петербургский государственный электротехнический университет им. </a:t>
            </a:r>
            <a:endParaRPr sz="1800"/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В.И. Ульянова (Ленина)</a:t>
            </a:r>
            <a:endParaRPr sz="1800"/>
          </a:p>
        </p:txBody>
      </p:sp>
      <p:sp>
        <p:nvSpPr>
          <p:cNvPr id="57" name="Google Shape;57;p13"/>
          <p:cNvSpPr txBox="1"/>
          <p:nvPr/>
        </p:nvSpPr>
        <p:spPr>
          <a:xfrm>
            <a:off x="0" y="6408300"/>
            <a:ext cx="9144000" cy="36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Санкт-Петербург, </a:t>
            </a:r>
            <a:r>
              <a:rPr lang="en" sz="1800">
                <a:highlight>
                  <a:srgbClr val="FF0000"/>
                </a:highlight>
              </a:rPr>
              <a:t>ГОД</a:t>
            </a:r>
            <a:endParaRPr sz="1800">
              <a:highlight>
                <a:srgbClr val="FF0000"/>
              </a:highlight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4"/>
          <p:cNvSpPr txBox="1">
            <a:spLocks noGrp="1"/>
          </p:cNvSpPr>
          <p:nvPr>
            <p:ph type="title"/>
          </p:nvPr>
        </p:nvSpPr>
        <p:spPr>
          <a:xfrm>
            <a:off x="311700" y="593367"/>
            <a:ext cx="8520600" cy="763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Цель и задачи</a:t>
            </a:r>
            <a:endParaRPr dirty="0"/>
          </a:p>
        </p:txBody>
      </p:sp>
      <p:sp>
        <p:nvSpPr>
          <p:cNvPr id="63" name="Google Shape;63;p14"/>
          <p:cNvSpPr txBox="1">
            <a:spLocks noGrp="1"/>
          </p:cNvSpPr>
          <p:nvPr>
            <p:ph type="body" idx="1"/>
          </p:nvPr>
        </p:nvSpPr>
        <p:spPr>
          <a:xfrm>
            <a:off x="311700" y="1536633"/>
            <a:ext cx="8520600" cy="455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 dirty="0">
                <a:solidFill>
                  <a:srgbClr val="000000"/>
                </a:solidFill>
              </a:rPr>
              <a:t>Актуальность: ручное распознавание </a:t>
            </a:r>
            <a:endParaRPr sz="2400" dirty="0">
              <a:solidFill>
                <a:srgbClr val="000000"/>
              </a:solidFill>
            </a:endParaRPr>
          </a:p>
          <a:p>
            <a:pPr marL="457200" lvl="0" indent="-381000" algn="l" rtl="0"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2400"/>
              <a:buChar char="●"/>
            </a:pPr>
            <a:r>
              <a:rPr lang="en" sz="2400" dirty="0">
                <a:solidFill>
                  <a:srgbClr val="000000"/>
                </a:solidFill>
              </a:rPr>
              <a:t>занимает слишком много времени,</a:t>
            </a:r>
            <a:endParaRPr sz="2400" dirty="0">
              <a:solidFill>
                <a:srgbClr val="000000"/>
              </a:solidFill>
            </a:endParaRPr>
          </a:p>
          <a:p>
            <a:pPr marL="457200" lvl="0" indent="-38100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Char char="●"/>
            </a:pPr>
            <a:r>
              <a:rPr lang="en" sz="2400" dirty="0">
                <a:solidFill>
                  <a:srgbClr val="000000"/>
                </a:solidFill>
              </a:rPr>
              <a:t>имеет низкую точность.</a:t>
            </a:r>
            <a:endParaRPr sz="2400" dirty="0">
              <a:solidFill>
                <a:srgbClr val="000000"/>
              </a:solidFill>
            </a:endParaRPr>
          </a:p>
          <a:p>
            <a:pPr marL="0" lvl="0" indent="0" algn="l" rtl="0">
              <a:spcBef>
                <a:spcPts val="1600"/>
              </a:spcBef>
              <a:spcAft>
                <a:spcPts val="0"/>
              </a:spcAft>
              <a:buNone/>
            </a:pPr>
            <a:r>
              <a:rPr lang="en" sz="2400" b="1" dirty="0">
                <a:solidFill>
                  <a:srgbClr val="000000"/>
                </a:solidFill>
              </a:rPr>
              <a:t>Цель</a:t>
            </a:r>
            <a:r>
              <a:rPr lang="en" sz="2400" dirty="0">
                <a:solidFill>
                  <a:srgbClr val="000000"/>
                </a:solidFill>
              </a:rPr>
              <a:t>: автоматизировать распознавание изображений.</a:t>
            </a:r>
            <a:endParaRPr sz="2400" dirty="0">
              <a:solidFill>
                <a:srgbClr val="000000"/>
              </a:solidFill>
            </a:endParaRPr>
          </a:p>
          <a:p>
            <a:pPr marL="0" lvl="0" indent="0" algn="l" rtl="0">
              <a:spcBef>
                <a:spcPts val="1600"/>
              </a:spcBef>
              <a:spcAft>
                <a:spcPts val="0"/>
              </a:spcAft>
              <a:buNone/>
            </a:pPr>
            <a:r>
              <a:rPr lang="en" sz="2400" b="1" dirty="0">
                <a:solidFill>
                  <a:srgbClr val="000000"/>
                </a:solidFill>
              </a:rPr>
              <a:t>Задачи</a:t>
            </a:r>
            <a:r>
              <a:rPr lang="en" sz="2400" dirty="0">
                <a:solidFill>
                  <a:srgbClr val="000000"/>
                </a:solidFill>
              </a:rPr>
              <a:t>:</a:t>
            </a:r>
            <a:endParaRPr sz="2400" dirty="0">
              <a:solidFill>
                <a:srgbClr val="000000"/>
              </a:solidFill>
            </a:endParaRPr>
          </a:p>
          <a:p>
            <a:pPr marL="457200" lvl="0" indent="-381000" algn="l" rtl="0"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2400"/>
              <a:buAutoNum type="arabicPeriod"/>
            </a:pPr>
            <a:r>
              <a:rPr lang="en" sz="2400" dirty="0">
                <a:solidFill>
                  <a:srgbClr val="000000"/>
                </a:solidFill>
              </a:rPr>
              <a:t>Задача 1</a:t>
            </a:r>
            <a:endParaRPr sz="2400" dirty="0">
              <a:solidFill>
                <a:srgbClr val="000000"/>
              </a:solidFill>
            </a:endParaRPr>
          </a:p>
          <a:p>
            <a:pPr marL="457200" lvl="0" indent="-38100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AutoNum type="arabicPeriod"/>
            </a:pPr>
            <a:r>
              <a:rPr lang="en" sz="2400" dirty="0">
                <a:solidFill>
                  <a:srgbClr val="000000"/>
                </a:solidFill>
              </a:rPr>
              <a:t>Задача 2</a:t>
            </a:r>
            <a:endParaRPr sz="2400" dirty="0">
              <a:solidFill>
                <a:srgbClr val="000000"/>
              </a:solidFill>
            </a:endParaRPr>
          </a:p>
          <a:p>
            <a:pPr marL="457200" lvl="0" indent="-38100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AutoNum type="arabicPeriod"/>
            </a:pPr>
            <a:r>
              <a:rPr lang="en" sz="2400" dirty="0">
                <a:solidFill>
                  <a:srgbClr val="000000"/>
                </a:solidFill>
              </a:rPr>
              <a:t>Задача 3</a:t>
            </a:r>
            <a:endParaRPr sz="2400" dirty="0">
              <a:solidFill>
                <a:srgbClr val="000000"/>
              </a:solidFill>
            </a:endParaRPr>
          </a:p>
          <a:p>
            <a:pPr marL="457200" lvl="0" indent="-38100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AutoNum type="arabicPeriod"/>
            </a:pPr>
            <a:r>
              <a:rPr lang="en" sz="2400" dirty="0">
                <a:solidFill>
                  <a:srgbClr val="000000"/>
                </a:solidFill>
              </a:rPr>
              <a:t>Задача 4</a:t>
            </a:r>
            <a:endParaRPr sz="2400" dirty="0">
              <a:solidFill>
                <a:srgbClr val="000000"/>
              </a:solidFill>
            </a:endParaRPr>
          </a:p>
        </p:txBody>
      </p:sp>
      <p:sp>
        <p:nvSpPr>
          <p:cNvPr id="64" name="Google Shape;64;p14"/>
          <p:cNvSpPr txBox="1">
            <a:spLocks noGrp="1"/>
          </p:cNvSpPr>
          <p:nvPr>
            <p:ph type="sldNum" idx="12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2</a:t>
            </a:fld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5"/>
          <p:cNvSpPr txBox="1">
            <a:spLocks noGrp="1"/>
          </p:cNvSpPr>
          <p:nvPr>
            <p:ph type="title"/>
          </p:nvPr>
        </p:nvSpPr>
        <p:spPr>
          <a:xfrm>
            <a:off x="311700" y="593367"/>
            <a:ext cx="8520600" cy="763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Задача 1</a:t>
            </a:r>
            <a:endParaRPr/>
          </a:p>
        </p:txBody>
      </p:sp>
      <p:sp>
        <p:nvSpPr>
          <p:cNvPr id="70" name="Google Shape;70;p15"/>
          <p:cNvSpPr txBox="1">
            <a:spLocks noGrp="1"/>
          </p:cNvSpPr>
          <p:nvPr>
            <p:ph type="sldNum" idx="12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3</a:t>
            </a:fld>
            <a:endParaRPr/>
          </a:p>
        </p:txBody>
      </p:sp>
      <p:graphicFrame>
        <p:nvGraphicFramePr>
          <p:cNvPr id="71" name="Google Shape;71;p15"/>
          <p:cNvGraphicFramePr/>
          <p:nvPr/>
        </p:nvGraphicFramePr>
        <p:xfrm>
          <a:off x="311675" y="1536625"/>
          <a:ext cx="7913100" cy="4021170"/>
        </p:xfrm>
        <a:graphic>
          <a:graphicData uri="http://schemas.openxmlformats.org/drawingml/2006/table">
            <a:tbl>
              <a:tblPr>
                <a:noFill/>
                <a:tableStyleId>{5A463D2F-6552-4F58-AAD4-21112E0C4F76}</a:tableStyleId>
              </a:tblPr>
              <a:tblGrid>
                <a:gridCol w="19782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9782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9782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97827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7767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400" b="1"/>
                    </a:p>
                  </a:txBody>
                  <a:tcPr marL="91425" marR="91425" marT="91425" marB="9142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400" b="1"/>
                        <a:t>Импорт</a:t>
                      </a:r>
                      <a:endParaRPr sz="2400" b="1"/>
                    </a:p>
                  </a:txBody>
                  <a:tcPr marL="91425" marR="91425" marT="91425" marB="9142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400" b="1"/>
                        <a:t>Экспорт</a:t>
                      </a:r>
                      <a:endParaRPr sz="2400" b="1"/>
                    </a:p>
                  </a:txBody>
                  <a:tcPr marL="91425" marR="91425" marT="91425" marB="9142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400" b="1"/>
                        <a:t>Скорость, Кб/с</a:t>
                      </a:r>
                      <a:endParaRPr sz="2400" b="1"/>
                    </a:p>
                  </a:txBody>
                  <a:tcPr marL="91425" marR="91425" marT="91425" marB="91425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767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400"/>
                        <a:t>App 1</a:t>
                      </a:r>
                      <a:endParaRPr sz="2400"/>
                    </a:p>
                  </a:txBody>
                  <a:tcPr marL="91425" marR="91425" marT="91425" marB="9142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400"/>
                        <a:t>-</a:t>
                      </a:r>
                      <a:endParaRPr sz="2400"/>
                    </a:p>
                  </a:txBody>
                  <a:tcPr marL="91425" marR="91425" marT="91425" marB="9142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400"/>
                        <a:t>+</a:t>
                      </a:r>
                      <a:endParaRPr sz="2400"/>
                    </a:p>
                  </a:txBody>
                  <a:tcPr marL="91425" marR="91425" marT="91425" marB="9142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400"/>
                        <a:t>1</a:t>
                      </a:r>
                      <a:endParaRPr sz="2400"/>
                    </a:p>
                  </a:txBody>
                  <a:tcPr marL="91425" marR="91425" marT="91425" marB="91425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767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400"/>
                        <a:t>App 2</a:t>
                      </a:r>
                      <a:endParaRPr sz="2400"/>
                    </a:p>
                  </a:txBody>
                  <a:tcPr marL="91425" marR="91425" marT="91425" marB="91425" anchor="ctr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400"/>
                        <a:t>-</a:t>
                      </a:r>
                      <a:endParaRPr sz="2400"/>
                    </a:p>
                  </a:txBody>
                  <a:tcPr marL="91425" marR="91425" marT="91425" marB="91425" anchor="ctr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400"/>
                        <a:t>-</a:t>
                      </a:r>
                      <a:endParaRPr sz="2400"/>
                    </a:p>
                  </a:txBody>
                  <a:tcPr marL="91425" marR="91425" marT="91425" marB="91425" anchor="ctr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400"/>
                        <a:t>0.3</a:t>
                      </a:r>
                      <a:endParaRPr sz="2400"/>
                    </a:p>
                  </a:txBody>
                  <a:tcPr marL="91425" marR="91425" marT="91425" marB="91425" anchor="ctr">
                    <a:solidFill>
                      <a:srgbClr val="FF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767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400"/>
                        <a:t>App 3</a:t>
                      </a:r>
                      <a:endParaRPr sz="2400"/>
                    </a:p>
                  </a:txBody>
                  <a:tcPr marL="91425" marR="91425" marT="91425" marB="9142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400"/>
                        <a:t>+</a:t>
                      </a:r>
                      <a:endParaRPr sz="2400"/>
                    </a:p>
                  </a:txBody>
                  <a:tcPr marL="91425" marR="91425" marT="91425" marB="9142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400"/>
                        <a:t>+</a:t>
                      </a:r>
                      <a:endParaRPr sz="2400"/>
                    </a:p>
                  </a:txBody>
                  <a:tcPr marL="91425" marR="91425" marT="91425" marB="9142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400"/>
                        <a:t>0.6</a:t>
                      </a:r>
                      <a:endParaRPr sz="2400"/>
                    </a:p>
                  </a:txBody>
                  <a:tcPr marL="91425" marR="91425" marT="91425" marB="91425"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767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400"/>
                        <a:t>App 4</a:t>
                      </a:r>
                      <a:endParaRPr sz="2400"/>
                    </a:p>
                  </a:txBody>
                  <a:tcPr marL="91425" marR="91425" marT="91425" marB="91425" anchor="ctr">
                    <a:solidFill>
                      <a:srgbClr val="00FF00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400"/>
                        <a:t>+</a:t>
                      </a:r>
                      <a:endParaRPr sz="2400"/>
                    </a:p>
                  </a:txBody>
                  <a:tcPr marL="91425" marR="91425" marT="91425" marB="91425" anchor="ctr">
                    <a:solidFill>
                      <a:srgbClr val="00FF00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400"/>
                        <a:t>+</a:t>
                      </a:r>
                      <a:endParaRPr sz="2400"/>
                    </a:p>
                  </a:txBody>
                  <a:tcPr marL="91425" marR="91425" marT="91425" marB="91425" anchor="ctr">
                    <a:solidFill>
                      <a:srgbClr val="00FF00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400"/>
                        <a:t>100</a:t>
                      </a:r>
                      <a:endParaRPr sz="2400"/>
                    </a:p>
                  </a:txBody>
                  <a:tcPr marL="91425" marR="91425" marT="91425" marB="91425" anchor="ctr">
                    <a:solidFill>
                      <a:srgbClr val="00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72" name="Google Shape;72;p15"/>
          <p:cNvSpPr txBox="1"/>
          <p:nvPr/>
        </p:nvSpPr>
        <p:spPr>
          <a:xfrm>
            <a:off x="322925" y="5773000"/>
            <a:ext cx="7913100" cy="103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/>
              <a:t>Пример таблицы сравнения аналогов.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16"/>
          <p:cNvSpPr txBox="1">
            <a:spLocks noGrp="1"/>
          </p:cNvSpPr>
          <p:nvPr>
            <p:ph type="title"/>
          </p:nvPr>
        </p:nvSpPr>
        <p:spPr>
          <a:xfrm>
            <a:off x="311700" y="593367"/>
            <a:ext cx="8520600" cy="763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Задача 2</a:t>
            </a:r>
            <a:endParaRPr dirty="0"/>
          </a:p>
        </p:txBody>
      </p:sp>
      <p:sp>
        <p:nvSpPr>
          <p:cNvPr id="78" name="Google Shape;78;p16"/>
          <p:cNvSpPr txBox="1">
            <a:spLocks noGrp="1"/>
          </p:cNvSpPr>
          <p:nvPr>
            <p:ph type="body" idx="1"/>
          </p:nvPr>
        </p:nvSpPr>
        <p:spPr>
          <a:xfrm>
            <a:off x="311700" y="5868882"/>
            <a:ext cx="8520600" cy="468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600"/>
              </a:spcAft>
              <a:buNone/>
            </a:pPr>
            <a:r>
              <a:rPr lang="en" sz="2400" dirty="0">
                <a:solidFill>
                  <a:srgbClr val="000000"/>
                </a:solidFill>
              </a:rPr>
              <a:t>Пример схемы.</a:t>
            </a:r>
            <a:endParaRPr sz="2400" dirty="0">
              <a:solidFill>
                <a:srgbClr val="000000"/>
              </a:solidFill>
            </a:endParaRPr>
          </a:p>
        </p:txBody>
      </p:sp>
      <p:sp>
        <p:nvSpPr>
          <p:cNvPr id="79" name="Google Shape;79;p16"/>
          <p:cNvSpPr txBox="1">
            <a:spLocks noGrp="1"/>
          </p:cNvSpPr>
          <p:nvPr>
            <p:ph type="sldNum" idx="12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4</a:t>
            </a:fld>
            <a:endParaRPr/>
          </a:p>
        </p:txBody>
      </p:sp>
      <p:pic>
        <p:nvPicPr>
          <p:cNvPr id="80" name="Google Shape;80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1356875"/>
            <a:ext cx="9144000" cy="4512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7"/>
          <p:cNvSpPr txBox="1">
            <a:spLocks noGrp="1"/>
          </p:cNvSpPr>
          <p:nvPr>
            <p:ph type="title"/>
          </p:nvPr>
        </p:nvSpPr>
        <p:spPr>
          <a:xfrm>
            <a:off x="311700" y="593367"/>
            <a:ext cx="8520600" cy="763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Задача 3</a:t>
            </a:r>
            <a:endParaRPr/>
          </a:p>
        </p:txBody>
      </p:sp>
      <p:sp>
        <p:nvSpPr>
          <p:cNvPr id="86" name="Google Shape;86;p17"/>
          <p:cNvSpPr txBox="1">
            <a:spLocks noGrp="1"/>
          </p:cNvSpPr>
          <p:nvPr>
            <p:ph type="body" idx="1"/>
          </p:nvPr>
        </p:nvSpPr>
        <p:spPr>
          <a:xfrm>
            <a:off x="311700" y="1536633"/>
            <a:ext cx="8520600" cy="455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rgbClr val="000000"/>
                </a:solidFill>
              </a:rPr>
              <a:t>Пример размещения формулы в на слайде.</a:t>
            </a:r>
            <a:endParaRPr sz="2400">
              <a:solidFill>
                <a:srgbClr val="000000"/>
              </a:solidFill>
            </a:endParaRPr>
          </a:p>
          <a:p>
            <a:pPr marL="0" lvl="0" indent="0" algn="l" rtl="0">
              <a:spcBef>
                <a:spcPts val="1600"/>
              </a:spcBef>
              <a:spcAft>
                <a:spcPts val="0"/>
              </a:spcAft>
              <a:buNone/>
            </a:pPr>
            <a:endParaRPr sz="2400">
              <a:solidFill>
                <a:srgbClr val="000000"/>
              </a:solidFill>
            </a:endParaRPr>
          </a:p>
          <a:p>
            <a:pPr marL="0" lvl="0" indent="0" algn="l" rtl="0">
              <a:spcBef>
                <a:spcPts val="1600"/>
              </a:spcBef>
              <a:spcAft>
                <a:spcPts val="0"/>
              </a:spcAft>
              <a:buNone/>
            </a:pPr>
            <a:endParaRPr sz="2400">
              <a:solidFill>
                <a:srgbClr val="000000"/>
              </a:solidFill>
            </a:endParaRPr>
          </a:p>
          <a:p>
            <a:pPr marL="0" lvl="0" indent="0" algn="l" rtl="0">
              <a:spcBef>
                <a:spcPts val="1600"/>
              </a:spcBef>
              <a:spcAft>
                <a:spcPts val="0"/>
              </a:spcAft>
              <a:buNone/>
            </a:pPr>
            <a:endParaRPr sz="2400">
              <a:solidFill>
                <a:srgbClr val="000000"/>
              </a:solidFill>
            </a:endParaRPr>
          </a:p>
          <a:p>
            <a:pPr marL="0" lvl="0" indent="0" algn="l" rtl="0">
              <a:spcBef>
                <a:spcPts val="1600"/>
              </a:spcBef>
              <a:spcAft>
                <a:spcPts val="1600"/>
              </a:spcAft>
              <a:buNone/>
            </a:pPr>
            <a:r>
              <a:rPr lang="en" sz="2400">
                <a:solidFill>
                  <a:srgbClr val="000000"/>
                </a:solidFill>
              </a:rPr>
              <a:t>где Si - элементы последовательности, Ki - функционалы над пространством.</a:t>
            </a:r>
            <a:endParaRPr sz="2400">
              <a:solidFill>
                <a:srgbClr val="000000"/>
              </a:solidFill>
            </a:endParaRPr>
          </a:p>
        </p:txBody>
      </p:sp>
      <p:sp>
        <p:nvSpPr>
          <p:cNvPr id="87" name="Google Shape;87;p17"/>
          <p:cNvSpPr txBox="1">
            <a:spLocks noGrp="1"/>
          </p:cNvSpPr>
          <p:nvPr>
            <p:ph type="sldNum" idx="12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5</a:t>
            </a:fld>
            <a:endParaRPr/>
          </a:p>
        </p:txBody>
      </p:sp>
      <p:pic>
        <p:nvPicPr>
          <p:cNvPr id="88" name="Google Shape;88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827900" y="2065775"/>
            <a:ext cx="3488199" cy="18223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18"/>
          <p:cNvSpPr txBox="1">
            <a:spLocks noGrp="1"/>
          </p:cNvSpPr>
          <p:nvPr>
            <p:ph type="title"/>
          </p:nvPr>
        </p:nvSpPr>
        <p:spPr>
          <a:xfrm>
            <a:off x="311700" y="593367"/>
            <a:ext cx="8520600" cy="763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Задача 4</a:t>
            </a:r>
            <a:endParaRPr/>
          </a:p>
        </p:txBody>
      </p:sp>
      <p:sp>
        <p:nvSpPr>
          <p:cNvPr id="94" name="Google Shape;94;p18"/>
          <p:cNvSpPr txBox="1">
            <a:spLocks noGrp="1"/>
          </p:cNvSpPr>
          <p:nvPr>
            <p:ph type="body" idx="1"/>
          </p:nvPr>
        </p:nvSpPr>
        <p:spPr>
          <a:xfrm>
            <a:off x="311700" y="4080057"/>
            <a:ext cx="8520600" cy="232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rgbClr val="000000"/>
                </a:solidFill>
              </a:rPr>
              <a:t>Пример зависимостей. А - левый график, В - правый график.</a:t>
            </a:r>
            <a:endParaRPr sz="2400">
              <a:solidFill>
                <a:srgbClr val="000000"/>
              </a:solidFill>
            </a:endParaRPr>
          </a:p>
          <a:p>
            <a:pPr marL="0" lvl="0" indent="0" algn="l" rtl="0">
              <a:spcBef>
                <a:spcPts val="1600"/>
              </a:spcBef>
              <a:spcAft>
                <a:spcPts val="1600"/>
              </a:spcAft>
              <a:buNone/>
            </a:pPr>
            <a:r>
              <a:rPr lang="en" sz="2400">
                <a:solidFill>
                  <a:srgbClr val="000000"/>
                </a:solidFill>
              </a:rPr>
              <a:t>Если вы ставили эксперименты, то укажите на каком компьютере: ОЗУ, процессор, видеоадаптер (Если нужно).</a:t>
            </a:r>
            <a:endParaRPr sz="2400">
              <a:solidFill>
                <a:srgbClr val="000000"/>
              </a:solidFill>
            </a:endParaRPr>
          </a:p>
        </p:txBody>
      </p:sp>
      <p:sp>
        <p:nvSpPr>
          <p:cNvPr id="95" name="Google Shape;95;p18"/>
          <p:cNvSpPr txBox="1">
            <a:spLocks noGrp="1"/>
          </p:cNvSpPr>
          <p:nvPr>
            <p:ph type="sldNum" idx="12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6</a:t>
            </a:fld>
            <a:endParaRPr/>
          </a:p>
        </p:txBody>
      </p:sp>
      <p:pic>
        <p:nvPicPr>
          <p:cNvPr id="96" name="Google Shape;96;p18"/>
          <p:cNvPicPr preferRelativeResize="0"/>
          <p:nvPr/>
        </p:nvPicPr>
        <p:blipFill rotWithShape="1">
          <a:blip r:embed="rId3">
            <a:alphaModFix/>
          </a:blip>
          <a:srcRect l="2343"/>
          <a:stretch/>
        </p:blipFill>
        <p:spPr>
          <a:xfrm>
            <a:off x="4699900" y="1509913"/>
            <a:ext cx="4437586" cy="2270475"/>
          </a:xfrm>
          <a:prstGeom prst="rect">
            <a:avLst/>
          </a:prstGeom>
          <a:noFill/>
          <a:ln>
            <a:noFill/>
          </a:ln>
        </p:spPr>
      </p:pic>
      <p:pic>
        <p:nvPicPr>
          <p:cNvPr id="97" name="Google Shape;97;p18"/>
          <p:cNvPicPr preferRelativeResize="0"/>
          <p:nvPr/>
        </p:nvPicPr>
        <p:blipFill rotWithShape="1">
          <a:blip r:embed="rId4">
            <a:alphaModFix/>
          </a:blip>
          <a:srcRect l="2629"/>
          <a:stretch/>
        </p:blipFill>
        <p:spPr>
          <a:xfrm>
            <a:off x="70700" y="1536575"/>
            <a:ext cx="4487788" cy="2217160"/>
          </a:xfrm>
          <a:prstGeom prst="rect">
            <a:avLst/>
          </a:prstGeom>
          <a:noFill/>
          <a:ln>
            <a:noFill/>
          </a:ln>
        </p:spPr>
      </p:pic>
      <p:sp>
        <p:nvSpPr>
          <p:cNvPr id="98" name="Google Shape;98;p18"/>
          <p:cNvSpPr txBox="1"/>
          <p:nvPr/>
        </p:nvSpPr>
        <p:spPr>
          <a:xfrm>
            <a:off x="848425" y="2030125"/>
            <a:ext cx="798000" cy="56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 b="1"/>
              <a:t>А</a:t>
            </a:r>
            <a:endParaRPr sz="2400" b="1"/>
          </a:p>
        </p:txBody>
      </p:sp>
      <p:sp>
        <p:nvSpPr>
          <p:cNvPr id="99" name="Google Shape;99;p18"/>
          <p:cNvSpPr txBox="1"/>
          <p:nvPr/>
        </p:nvSpPr>
        <p:spPr>
          <a:xfrm>
            <a:off x="5323675" y="2030125"/>
            <a:ext cx="798000" cy="56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 b="1"/>
              <a:t>B</a:t>
            </a:r>
            <a:endParaRPr sz="2400" b="1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19"/>
          <p:cNvSpPr txBox="1">
            <a:spLocks noGrp="1"/>
          </p:cNvSpPr>
          <p:nvPr>
            <p:ph type="title"/>
          </p:nvPr>
        </p:nvSpPr>
        <p:spPr>
          <a:xfrm>
            <a:off x="311700" y="593367"/>
            <a:ext cx="8520600" cy="763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Заключение</a:t>
            </a:r>
            <a:endParaRPr/>
          </a:p>
        </p:txBody>
      </p:sp>
      <p:sp>
        <p:nvSpPr>
          <p:cNvPr id="105" name="Google Shape;105;p19"/>
          <p:cNvSpPr txBox="1">
            <a:spLocks noGrp="1"/>
          </p:cNvSpPr>
          <p:nvPr>
            <p:ph type="body" idx="1"/>
          </p:nvPr>
        </p:nvSpPr>
        <p:spPr>
          <a:xfrm>
            <a:off x="311700" y="1536633"/>
            <a:ext cx="8520600" cy="455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810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●"/>
            </a:pPr>
            <a:r>
              <a:rPr lang="en" sz="2400">
                <a:solidFill>
                  <a:schemeClr val="dk1"/>
                </a:solidFill>
              </a:rPr>
              <a:t>Проделанный обзор методов показал необходимость разработки ...</a:t>
            </a:r>
            <a:endParaRPr sz="2400">
              <a:solidFill>
                <a:schemeClr val="dk1"/>
              </a:solidFill>
            </a:endParaRPr>
          </a:p>
          <a:p>
            <a:pPr marL="457200" lvl="0" indent="-3810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●"/>
            </a:pPr>
            <a:r>
              <a:rPr lang="en" sz="2400">
                <a:solidFill>
                  <a:schemeClr val="dk1"/>
                </a:solidFill>
              </a:rPr>
              <a:t>Сформулированы критерии ...</a:t>
            </a:r>
            <a:endParaRPr sz="2400">
              <a:solidFill>
                <a:schemeClr val="dk1"/>
              </a:solidFill>
            </a:endParaRPr>
          </a:p>
          <a:p>
            <a:pPr marL="457200" lvl="0" indent="-3810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●"/>
            </a:pPr>
            <a:r>
              <a:rPr lang="en" sz="2400">
                <a:solidFill>
                  <a:schemeClr val="dk1"/>
                </a:solidFill>
              </a:rPr>
              <a:t>Спроектировано и опубликовано приложение для …, позволяющее ….</a:t>
            </a:r>
            <a:endParaRPr sz="2400">
              <a:solidFill>
                <a:schemeClr val="dk1"/>
              </a:solidFill>
            </a:endParaRPr>
          </a:p>
          <a:p>
            <a:pPr marL="457200" lvl="0" indent="-3810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●"/>
            </a:pPr>
            <a:r>
              <a:rPr lang="en" sz="2400">
                <a:solidFill>
                  <a:schemeClr val="dk1"/>
                </a:solidFill>
              </a:rPr>
              <a:t>Экспериментальное исследование скорости работы приложения показало, что …. На 10000% быстрее чем</a:t>
            </a:r>
            <a:endParaRPr sz="240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1600"/>
              </a:spcBef>
              <a:spcAft>
                <a:spcPts val="0"/>
              </a:spcAft>
              <a:buNone/>
            </a:pPr>
            <a:r>
              <a:rPr lang="en" sz="2400">
                <a:solidFill>
                  <a:schemeClr val="dk1"/>
                </a:solidFill>
              </a:rPr>
              <a:t>Дальнейшие направления исследований включают в себя ...</a:t>
            </a:r>
            <a:endParaRPr sz="240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1600"/>
              </a:spcBef>
              <a:spcAft>
                <a:spcPts val="1600"/>
              </a:spcAft>
              <a:buNone/>
            </a:pPr>
            <a:endParaRPr/>
          </a:p>
        </p:txBody>
      </p:sp>
      <p:sp>
        <p:nvSpPr>
          <p:cNvPr id="106" name="Google Shape;106;p19"/>
          <p:cNvSpPr txBox="1">
            <a:spLocks noGrp="1"/>
          </p:cNvSpPr>
          <p:nvPr>
            <p:ph type="sldNum" idx="12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7</a:t>
            </a:fld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20"/>
          <p:cNvSpPr txBox="1">
            <a:spLocks noGrp="1"/>
          </p:cNvSpPr>
          <p:nvPr>
            <p:ph type="title"/>
          </p:nvPr>
        </p:nvSpPr>
        <p:spPr>
          <a:xfrm>
            <a:off x="311700" y="593367"/>
            <a:ext cx="8520600" cy="763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Апробация работы</a:t>
            </a:r>
            <a:endParaRPr/>
          </a:p>
        </p:txBody>
      </p:sp>
      <p:sp>
        <p:nvSpPr>
          <p:cNvPr id="112" name="Google Shape;112;p20"/>
          <p:cNvSpPr txBox="1">
            <a:spLocks noGrp="1"/>
          </p:cNvSpPr>
          <p:nvPr>
            <p:ph type="body" idx="1"/>
          </p:nvPr>
        </p:nvSpPr>
        <p:spPr>
          <a:xfrm>
            <a:off x="311700" y="1268300"/>
            <a:ext cx="8709300" cy="4823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8100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Char char="●"/>
            </a:pPr>
            <a:r>
              <a:rPr lang="en" sz="2400">
                <a:solidFill>
                  <a:srgbClr val="000000"/>
                </a:solidFill>
              </a:rPr>
              <a:t>«Почему важно указывать все свои результаты во время защиты диплома?» // Конференция ППС СПбГЭТУ «ЛЭТИ», 2019</a:t>
            </a:r>
            <a:endParaRPr sz="2400">
              <a:solidFill>
                <a:srgbClr val="000000"/>
              </a:solidFill>
            </a:endParaRPr>
          </a:p>
          <a:p>
            <a:pPr marL="457200" lvl="0" indent="-38100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Char char="●"/>
            </a:pPr>
            <a:r>
              <a:rPr lang="en" sz="2400">
                <a:solidFill>
                  <a:srgbClr val="000000"/>
                </a:solidFill>
              </a:rPr>
              <a:t>Иванов И.И., Петров П.П. Как сформировать впечатление в процессе защиты // Известия СПБГЭТУ “ЛЭТИ”. 2019. Т. 42. № 13. С. 299–315.</a:t>
            </a:r>
            <a:endParaRPr sz="2400">
              <a:solidFill>
                <a:srgbClr val="000000"/>
              </a:solidFill>
            </a:endParaRPr>
          </a:p>
          <a:p>
            <a:pPr marL="457200" lvl="0" indent="-38100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Char char="●"/>
            </a:pPr>
            <a:r>
              <a:rPr lang="en" sz="2400">
                <a:solidFill>
                  <a:srgbClr val="000000"/>
                </a:solidFill>
              </a:rPr>
              <a:t>Репозиторий проекта </a:t>
            </a:r>
            <a:r>
              <a:rPr lang="en" sz="2400" u="sng">
                <a:solidFill>
                  <a:srgbClr val="000000"/>
                </a:solidFill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https://github.org/my_diploma_sources_repo</a:t>
            </a:r>
            <a:r>
              <a:rPr lang="en" sz="2400">
                <a:solidFill>
                  <a:srgbClr val="000000"/>
                </a:solidFill>
              </a:rPr>
              <a:t>.</a:t>
            </a:r>
            <a:endParaRPr sz="2400">
              <a:solidFill>
                <a:srgbClr val="000000"/>
              </a:solidFill>
            </a:endParaRPr>
          </a:p>
          <a:p>
            <a:pPr marL="457200" lvl="0" indent="-38100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Char char="●"/>
            </a:pPr>
            <a:r>
              <a:rPr lang="en" sz="2400">
                <a:solidFill>
                  <a:srgbClr val="000000"/>
                </a:solidFill>
              </a:rPr>
              <a:t>Опубликованное приложение   </a:t>
            </a:r>
            <a:r>
              <a:rPr lang="en" sz="2400" u="sng">
                <a:solidFill>
                  <a:schemeClr val="hlink"/>
                </a:solidFill>
                <a:hlinkClick r:id="rId4"/>
              </a:rPr>
              <a:t>LINK</a:t>
            </a:r>
            <a:endParaRPr sz="2400">
              <a:solidFill>
                <a:srgbClr val="000000"/>
              </a:solidFill>
            </a:endParaRPr>
          </a:p>
          <a:p>
            <a:pPr marL="457200" lvl="0" indent="-38100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Char char="●"/>
            </a:pPr>
            <a:r>
              <a:rPr lang="en" sz="2400">
                <a:solidFill>
                  <a:srgbClr val="000000"/>
                </a:solidFill>
              </a:rPr>
              <a:t>Развернутое приложение в сети Интернет </a:t>
            </a:r>
            <a:r>
              <a:rPr lang="en" sz="2400" u="sng">
                <a:solidFill>
                  <a:srgbClr val="000000"/>
                </a:solidFill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https://my_web_app.com/</a:t>
            </a:r>
            <a:endParaRPr sz="2400">
              <a:solidFill>
                <a:srgbClr val="000000"/>
              </a:solidFill>
            </a:endParaRPr>
          </a:p>
        </p:txBody>
      </p:sp>
      <p:sp>
        <p:nvSpPr>
          <p:cNvPr id="113" name="Google Shape;113;p20"/>
          <p:cNvSpPr txBox="1">
            <a:spLocks noGrp="1"/>
          </p:cNvSpPr>
          <p:nvPr>
            <p:ph type="sldNum" idx="12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8</a:t>
            </a:fld>
            <a:endParaRPr/>
          </a:p>
        </p:txBody>
      </p:sp>
      <p:pic>
        <p:nvPicPr>
          <p:cNvPr id="114" name="Google Shape;114;p20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7116000" y="3741300"/>
            <a:ext cx="1905000" cy="1905000"/>
          </a:xfrm>
          <a:prstGeom prst="rect">
            <a:avLst/>
          </a:prstGeom>
          <a:noFill/>
          <a:ln>
            <a:noFill/>
          </a:ln>
        </p:spPr>
      </p:pic>
      <p:sp>
        <p:nvSpPr>
          <p:cNvPr id="115" name="Google Shape;115;p20"/>
          <p:cNvSpPr txBox="1"/>
          <p:nvPr/>
        </p:nvSpPr>
        <p:spPr>
          <a:xfrm>
            <a:off x="7223375" y="5649425"/>
            <a:ext cx="1608900" cy="52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/>
              <a:t>DEMO</a:t>
            </a:r>
            <a:endParaRPr sz="240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21"/>
          <p:cNvSpPr txBox="1">
            <a:spLocks noGrp="1"/>
          </p:cNvSpPr>
          <p:nvPr>
            <p:ph type="title"/>
          </p:nvPr>
        </p:nvSpPr>
        <p:spPr>
          <a:xfrm>
            <a:off x="311700" y="3047242"/>
            <a:ext cx="8520600" cy="763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Запасные слайды</a:t>
            </a:r>
            <a:endParaRPr/>
          </a:p>
        </p:txBody>
      </p:sp>
      <p:sp>
        <p:nvSpPr>
          <p:cNvPr id="121" name="Google Shape;121;p21"/>
          <p:cNvSpPr txBox="1">
            <a:spLocks noGrp="1"/>
          </p:cNvSpPr>
          <p:nvPr>
            <p:ph type="sldNum" idx="12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9</a:t>
            </a:fld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22"/>
          <p:cNvSpPr txBox="1">
            <a:spLocks noGrp="1"/>
          </p:cNvSpPr>
          <p:nvPr>
            <p:ph type="title"/>
          </p:nvPr>
        </p:nvSpPr>
        <p:spPr>
          <a:xfrm>
            <a:off x="311700" y="593367"/>
            <a:ext cx="8520600" cy="763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Практическая значимость</a:t>
            </a:r>
            <a:endParaRPr/>
          </a:p>
        </p:txBody>
      </p:sp>
      <p:sp>
        <p:nvSpPr>
          <p:cNvPr id="127" name="Google Shape;127;p22"/>
          <p:cNvSpPr txBox="1">
            <a:spLocks noGrp="1"/>
          </p:cNvSpPr>
          <p:nvPr>
            <p:ph type="sldNum" idx="12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10</a:t>
            </a:fld>
            <a:endParaRPr/>
          </a:p>
        </p:txBody>
      </p:sp>
      <p:pic>
        <p:nvPicPr>
          <p:cNvPr id="128" name="Google Shape;128;p2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868600" y="1356874"/>
            <a:ext cx="5406800" cy="4517625"/>
          </a:xfrm>
          <a:prstGeom prst="rect">
            <a:avLst/>
          </a:prstGeom>
          <a:noFill/>
          <a:ln>
            <a:noFill/>
          </a:ln>
        </p:spPr>
      </p:pic>
      <p:sp>
        <p:nvSpPr>
          <p:cNvPr id="129" name="Google Shape;129;p22"/>
          <p:cNvSpPr txBox="1"/>
          <p:nvPr/>
        </p:nvSpPr>
        <p:spPr>
          <a:xfrm>
            <a:off x="576500" y="5924825"/>
            <a:ext cx="7745400" cy="70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/>
              <a:t>Ускорение обработки при горизонтальном масштабировании.</a:t>
            </a:r>
            <a:endParaRPr sz="24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FFAB40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359</Words>
  <Application>Microsoft Office PowerPoint</Application>
  <PresentationFormat>Экран (4:3)</PresentationFormat>
  <Paragraphs>76</Paragraphs>
  <Slides>10</Slides>
  <Notes>10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1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10</vt:i4>
      </vt:variant>
    </vt:vector>
  </HeadingPairs>
  <TitlesOfParts>
    <vt:vector size="12" baseType="lpstr">
      <vt:lpstr>Arial</vt:lpstr>
      <vt:lpstr>Simple Light</vt:lpstr>
      <vt:lpstr>Тема дипломной работы</vt:lpstr>
      <vt:lpstr>Цель и задачи</vt:lpstr>
      <vt:lpstr>Задача 1</vt:lpstr>
      <vt:lpstr>Задача 2</vt:lpstr>
      <vt:lpstr>Задача 3</vt:lpstr>
      <vt:lpstr>Задача 4</vt:lpstr>
      <vt:lpstr>Заключение</vt:lpstr>
      <vt:lpstr>Апробация работы</vt:lpstr>
      <vt:lpstr>Запасные слайды</vt:lpstr>
      <vt:lpstr>Практическая значимость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Тема дипломной работы</dc:title>
  <dc:creator>AlphaXeon</dc:creator>
  <cp:lastModifiedBy>Kilka s Tomatami</cp:lastModifiedBy>
  <cp:revision>3</cp:revision>
  <dcterms:modified xsi:type="dcterms:W3CDTF">2026-05-05T20:12:02Z</dcterms:modified>
</cp:coreProperties>
</file>